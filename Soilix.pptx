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64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90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2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92E60-209B-496F-9204-129576C683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10F68-4F82-49F1-963C-5BF096B96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5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10F68-4F82-49F1-963C-5BF096B968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02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978472-14C9-8D91-46DE-3FC0D2D4EA94}"/>
              </a:ext>
            </a:extLst>
          </p:cNvPr>
          <p:cNvSpPr txBox="1"/>
          <p:nvPr/>
        </p:nvSpPr>
        <p:spPr>
          <a:xfrm>
            <a:off x="3851828" y="2362200"/>
            <a:ext cx="8552341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spc="-300" dirty="0" err="1">
                <a:latin typeface="Segoe UI Variable Display" pitchFamily="2" charset="0"/>
              </a:rPr>
              <a:t>Soilix</a:t>
            </a:r>
            <a:r>
              <a:rPr lang="en-US" sz="23900" b="1" spc="-300" dirty="0">
                <a:latin typeface="Segoe UI Variable Display" pitchFamily="2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FA5A1-F2F1-6872-C864-4C58F88E31D2}"/>
              </a:ext>
            </a:extLst>
          </p:cNvPr>
          <p:cNvSpPr txBox="1"/>
          <p:nvPr/>
        </p:nvSpPr>
        <p:spPr>
          <a:xfrm>
            <a:off x="5690473" y="5562600"/>
            <a:ext cx="4875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4000" dirty="0">
                <a:solidFill>
                  <a:srgbClr val="1F9038"/>
                </a:solidFill>
                <a:latin typeface="Segoe UI Variable Display" pitchFamily="2" charset="0"/>
              </a:rPr>
              <a:t>Отбор Дървеницата</a:t>
            </a:r>
            <a:endParaRPr lang="en-US" sz="4000" dirty="0">
              <a:solidFill>
                <a:srgbClr val="1F9038"/>
              </a:solidFill>
              <a:latin typeface="Segoe UI Variable Display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C5DC7-2EA2-AE75-FFF9-31CC9F0A7213}"/>
              </a:ext>
            </a:extLst>
          </p:cNvPr>
          <p:cNvSpPr txBox="1"/>
          <p:nvPr/>
        </p:nvSpPr>
        <p:spPr>
          <a:xfrm>
            <a:off x="2148638" y="5763161"/>
            <a:ext cx="119587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8000" b="1" spc="-300" dirty="0">
                <a:latin typeface="Segoe UI Variable Display" pitchFamily="2" charset="0"/>
              </a:rPr>
              <a:t>Автономност. Навсякъде</a:t>
            </a:r>
            <a:endParaRPr lang="en-US" sz="8000" b="1" spc="-300" dirty="0">
              <a:latin typeface="Segoe UI Variable Display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F96821-67F4-9468-DEF1-D0D3EDC35012}"/>
              </a:ext>
            </a:extLst>
          </p:cNvPr>
          <p:cNvGrpSpPr/>
          <p:nvPr/>
        </p:nvGrpSpPr>
        <p:grpSpPr>
          <a:xfrm>
            <a:off x="7257714" y="1975230"/>
            <a:ext cx="1937238" cy="3086891"/>
            <a:chOff x="7257714" y="1698469"/>
            <a:chExt cx="1937238" cy="308689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7F025C-2CCA-E097-21D4-01B1F9876C9E}"/>
                </a:ext>
              </a:extLst>
            </p:cNvPr>
            <p:cNvSpPr/>
            <p:nvPr/>
          </p:nvSpPr>
          <p:spPr>
            <a:xfrm>
              <a:off x="7599680" y="2824480"/>
              <a:ext cx="620891" cy="1960880"/>
            </a:xfrm>
            <a:custGeom>
              <a:avLst/>
              <a:gdLst>
                <a:gd name="csX0" fmla="*/ 121920 w 620891"/>
                <a:gd name="csY0" fmla="*/ 1960880 h 1960880"/>
                <a:gd name="csX1" fmla="*/ 152400 w 620891"/>
                <a:gd name="csY1" fmla="*/ 1666240 h 1960880"/>
                <a:gd name="csX2" fmla="*/ 619760 w 620891"/>
                <a:gd name="csY2" fmla="*/ 1026160 h 1960880"/>
                <a:gd name="csX3" fmla="*/ 0 w 620891"/>
                <a:gd name="csY3" fmla="*/ 0 h 1960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0891" h="1960880">
                  <a:moveTo>
                    <a:pt x="121920" y="1960880"/>
                  </a:moveTo>
                  <a:cubicBezTo>
                    <a:pt x="95673" y="1891453"/>
                    <a:pt x="69427" y="1822026"/>
                    <a:pt x="152400" y="1666240"/>
                  </a:cubicBezTo>
                  <a:cubicBezTo>
                    <a:pt x="235373" y="1510454"/>
                    <a:pt x="645160" y="1303867"/>
                    <a:pt x="619760" y="1026160"/>
                  </a:cubicBezTo>
                  <a:cubicBezTo>
                    <a:pt x="594360" y="748453"/>
                    <a:pt x="286173" y="150707"/>
                    <a:pt x="0" y="0"/>
                  </a:cubicBezTo>
                </a:path>
              </a:pathLst>
            </a:custGeom>
            <a:noFill/>
            <a:ln w="101600" cap="rnd">
              <a:solidFill>
                <a:srgbClr val="1F9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9038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006093F-5C15-4B80-3D01-EFF316216E9E}"/>
                </a:ext>
              </a:extLst>
            </p:cNvPr>
            <p:cNvSpPr/>
            <p:nvPr/>
          </p:nvSpPr>
          <p:spPr>
            <a:xfrm>
              <a:off x="8133715" y="2084832"/>
              <a:ext cx="665797" cy="1731264"/>
            </a:xfrm>
            <a:custGeom>
              <a:avLst/>
              <a:gdLst>
                <a:gd name="csX0" fmla="*/ 80581 w 665797"/>
                <a:gd name="csY0" fmla="*/ 1731264 h 1731264"/>
                <a:gd name="csX1" fmla="*/ 50101 w 665797"/>
                <a:gd name="csY1" fmla="*/ 713232 h 1731264"/>
                <a:gd name="csX2" fmla="*/ 665797 w 665797"/>
                <a:gd name="csY2" fmla="*/ 0 h 1731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5797" h="1731264">
                  <a:moveTo>
                    <a:pt x="80581" y="1731264"/>
                  </a:moveTo>
                  <a:cubicBezTo>
                    <a:pt x="16573" y="1366520"/>
                    <a:pt x="-47435" y="1001776"/>
                    <a:pt x="50101" y="713232"/>
                  </a:cubicBezTo>
                  <a:cubicBezTo>
                    <a:pt x="147637" y="424688"/>
                    <a:pt x="400621" y="182880"/>
                    <a:pt x="665797" y="0"/>
                  </a:cubicBezTo>
                </a:path>
              </a:pathLst>
            </a:custGeom>
            <a:noFill/>
            <a:ln w="101600" cap="rnd">
              <a:solidFill>
                <a:srgbClr val="1F9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9038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A5DCF17-3EEE-C900-D0A1-D376EC04E3D4}"/>
                </a:ext>
              </a:extLst>
            </p:cNvPr>
            <p:cNvSpPr/>
            <p:nvPr/>
          </p:nvSpPr>
          <p:spPr>
            <a:xfrm>
              <a:off x="7257714" y="2461943"/>
              <a:ext cx="715862" cy="696100"/>
            </a:xfrm>
            <a:custGeom>
              <a:avLst/>
              <a:gdLst>
                <a:gd name="csX0" fmla="*/ 659466 w 715862"/>
                <a:gd name="csY0" fmla="*/ 677497 h 696100"/>
                <a:gd name="csX1" fmla="*/ 202266 w 715862"/>
                <a:gd name="csY1" fmla="*/ 612727 h 696100"/>
                <a:gd name="csX2" fmla="*/ 19386 w 715862"/>
                <a:gd name="csY2" fmla="*/ 18367 h 696100"/>
                <a:gd name="csX3" fmla="*/ 640416 w 715862"/>
                <a:gd name="csY3" fmla="*/ 182197 h 696100"/>
                <a:gd name="csX4" fmla="*/ 705186 w 715862"/>
                <a:gd name="csY4" fmla="*/ 494617 h 696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5862" h="696100">
                  <a:moveTo>
                    <a:pt x="659466" y="677497"/>
                  </a:moveTo>
                  <a:cubicBezTo>
                    <a:pt x="484206" y="700039"/>
                    <a:pt x="308946" y="722582"/>
                    <a:pt x="202266" y="612727"/>
                  </a:cubicBezTo>
                  <a:cubicBezTo>
                    <a:pt x="95586" y="502872"/>
                    <a:pt x="-53639" y="90122"/>
                    <a:pt x="19386" y="18367"/>
                  </a:cubicBezTo>
                  <a:cubicBezTo>
                    <a:pt x="92411" y="-53388"/>
                    <a:pt x="526116" y="102822"/>
                    <a:pt x="640416" y="182197"/>
                  </a:cubicBezTo>
                  <a:cubicBezTo>
                    <a:pt x="754716" y="261572"/>
                    <a:pt x="705186" y="494617"/>
                    <a:pt x="705186" y="494617"/>
                  </a:cubicBezTo>
                </a:path>
              </a:pathLst>
            </a:custGeom>
            <a:noFill/>
            <a:ln w="101600" cap="rnd">
              <a:solidFill>
                <a:srgbClr val="1F9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9038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050BBBA-1A05-1281-83DD-8B8788F1C9FE}"/>
                </a:ext>
              </a:extLst>
            </p:cNvPr>
            <p:cNvSpPr/>
            <p:nvPr/>
          </p:nvSpPr>
          <p:spPr>
            <a:xfrm rot="5236406">
              <a:off x="8253611" y="1689753"/>
              <a:ext cx="932625" cy="950057"/>
            </a:xfrm>
            <a:custGeom>
              <a:avLst/>
              <a:gdLst>
                <a:gd name="csX0" fmla="*/ 659466 w 715862"/>
                <a:gd name="csY0" fmla="*/ 677497 h 696100"/>
                <a:gd name="csX1" fmla="*/ 202266 w 715862"/>
                <a:gd name="csY1" fmla="*/ 612727 h 696100"/>
                <a:gd name="csX2" fmla="*/ 19386 w 715862"/>
                <a:gd name="csY2" fmla="*/ 18367 h 696100"/>
                <a:gd name="csX3" fmla="*/ 640416 w 715862"/>
                <a:gd name="csY3" fmla="*/ 182197 h 696100"/>
                <a:gd name="csX4" fmla="*/ 705186 w 715862"/>
                <a:gd name="csY4" fmla="*/ 494617 h 696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5862" h="696100">
                  <a:moveTo>
                    <a:pt x="659466" y="677497"/>
                  </a:moveTo>
                  <a:cubicBezTo>
                    <a:pt x="484206" y="700039"/>
                    <a:pt x="308946" y="722582"/>
                    <a:pt x="202266" y="612727"/>
                  </a:cubicBezTo>
                  <a:cubicBezTo>
                    <a:pt x="95586" y="502872"/>
                    <a:pt x="-53639" y="90122"/>
                    <a:pt x="19386" y="18367"/>
                  </a:cubicBezTo>
                  <a:cubicBezTo>
                    <a:pt x="92411" y="-53388"/>
                    <a:pt x="526116" y="102822"/>
                    <a:pt x="640416" y="182197"/>
                  </a:cubicBezTo>
                  <a:cubicBezTo>
                    <a:pt x="754716" y="261572"/>
                    <a:pt x="705186" y="494617"/>
                    <a:pt x="705186" y="494617"/>
                  </a:cubicBezTo>
                </a:path>
              </a:pathLst>
            </a:custGeom>
            <a:noFill/>
            <a:ln w="101600" cap="rnd">
              <a:solidFill>
                <a:srgbClr val="1F9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9038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B68DA-4F41-8D70-4AE5-2429B403348B}"/>
              </a:ext>
            </a:extLst>
          </p:cNvPr>
          <p:cNvSpPr txBox="1"/>
          <p:nvPr/>
        </p:nvSpPr>
        <p:spPr>
          <a:xfrm>
            <a:off x="2194324" y="1143000"/>
            <a:ext cx="1186735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spc="-300" dirty="0" err="1">
                <a:latin typeface="Segoe UI Variable Display" pitchFamily="2" charset="0"/>
              </a:rPr>
              <a:t>Soilix</a:t>
            </a:r>
            <a:r>
              <a:rPr lang="en-US" sz="6600" b="1" spc="-300" dirty="0">
                <a:latin typeface="Segoe UI Variable Display" pitchFamily="2" charset="0"/>
              </a:rPr>
              <a:t> </a:t>
            </a:r>
            <a:r>
              <a:rPr lang="bg-BG" sz="6600" b="1" spc="-300" dirty="0">
                <a:latin typeface="Segoe UI Variable Display" pitchFamily="2" charset="0"/>
              </a:rPr>
              <a:t>е автономна система за</a:t>
            </a:r>
          </a:p>
          <a:p>
            <a:pPr algn="ctr"/>
            <a:r>
              <a:rPr lang="bg-BG" sz="6600" b="1" spc="-300" dirty="0">
                <a:latin typeface="Segoe UI Variable Display" pitchFamily="2" charset="0"/>
              </a:rPr>
              <a:t>Мониторинг на почва и въздух</a:t>
            </a:r>
            <a:endParaRPr lang="en-US" sz="6600" b="1" spc="-300" dirty="0">
              <a:latin typeface="Segoe UI Variable Display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D4F99-8A5A-C7A3-458A-BD79629624E4}"/>
              </a:ext>
            </a:extLst>
          </p:cNvPr>
          <p:cNvSpPr txBox="1"/>
          <p:nvPr/>
        </p:nvSpPr>
        <p:spPr>
          <a:xfrm>
            <a:off x="1108566" y="3510171"/>
            <a:ext cx="140490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6600" b="1" spc="-300" dirty="0">
                <a:latin typeface="Segoe UI Variable Display" pitchFamily="2" charset="0"/>
              </a:rPr>
              <a:t>Работи с </a:t>
            </a:r>
            <a:r>
              <a:rPr lang="en-US" sz="6600" b="1" spc="-300" dirty="0">
                <a:latin typeface="Segoe UI Variable Display" pitchFamily="2" charset="0"/>
              </a:rPr>
              <a:t>GSM </a:t>
            </a:r>
            <a:r>
              <a:rPr lang="bg-BG" sz="6600" b="1" spc="-300" dirty="0">
                <a:latin typeface="Segoe UI Variable Display" pitchFamily="2" charset="0"/>
              </a:rPr>
              <a:t>и соларно захранване,</a:t>
            </a:r>
          </a:p>
          <a:p>
            <a:pPr algn="ctr"/>
            <a:r>
              <a:rPr lang="bg-BG" sz="6600" b="1" spc="-300" dirty="0">
                <a:latin typeface="Segoe UI Variable Display" pitchFamily="2" charset="0"/>
              </a:rPr>
              <a:t>Без нужда от </a:t>
            </a:r>
            <a:r>
              <a:rPr lang="en-US" sz="6600" b="1" spc="-300" dirty="0">
                <a:latin typeface="Segoe UI Variable Display" pitchFamily="2" charset="0"/>
              </a:rPr>
              <a:t>Wi-Fi </a:t>
            </a:r>
            <a:r>
              <a:rPr lang="bg-BG" sz="6600" b="1" spc="-300" dirty="0">
                <a:latin typeface="Segoe UI Variable Display" pitchFamily="2" charset="0"/>
              </a:rPr>
              <a:t>или ток.</a:t>
            </a:r>
            <a:endParaRPr lang="en-US" sz="6600" b="1" spc="-300" dirty="0">
              <a:latin typeface="Segoe UI Variable Display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242ED-66C9-A096-A28E-C975649F385F}"/>
              </a:ext>
            </a:extLst>
          </p:cNvPr>
          <p:cNvSpPr txBox="1"/>
          <p:nvPr/>
        </p:nvSpPr>
        <p:spPr>
          <a:xfrm>
            <a:off x="2678435" y="5877342"/>
            <a:ext cx="108991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6600" b="1" spc="-300" dirty="0">
                <a:latin typeface="Segoe UI Variable Display" pitchFamily="2" charset="0"/>
              </a:rPr>
              <a:t>Превъзхожда стандартните,</a:t>
            </a:r>
          </a:p>
          <a:p>
            <a:pPr algn="ctr"/>
            <a:r>
              <a:rPr lang="bg-BG" sz="6600" b="1" spc="-300" dirty="0">
                <a:latin typeface="Segoe UI Variable Display" pitchFamily="2" charset="0"/>
              </a:rPr>
              <a:t>зависими станции</a:t>
            </a:r>
            <a:endParaRPr lang="en-US" sz="6600" b="1" spc="-300" dirty="0">
              <a:latin typeface="Segoe UI Variable Display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5462"/>
          <a:stretch>
            <a:fillRect/>
          </a:stretch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05FC-4979-0367-B004-8600F9E0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62B6B-E0B4-EDA2-2E4E-8BD93A6333C0}"/>
              </a:ext>
            </a:extLst>
          </p:cNvPr>
          <p:cNvSpPr txBox="1"/>
          <p:nvPr/>
        </p:nvSpPr>
        <p:spPr>
          <a:xfrm>
            <a:off x="3851828" y="2362200"/>
            <a:ext cx="8252580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3900" b="1" spc="-300" dirty="0">
                <a:latin typeface="Segoe UI Variable Display" pitchFamily="2" charset="0"/>
              </a:rPr>
              <a:t>Демо</a:t>
            </a:r>
            <a:endParaRPr lang="en-US" sz="23900" b="1" spc="-300" dirty="0">
              <a:latin typeface="Segoe UI Variable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2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</Words>
  <Application>Microsoft Office PowerPoint</Application>
  <PresentationFormat>Custom</PresentationFormat>
  <Paragraphs>11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Segoe UI Variable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JukFiuu</dc:creator>
  <cp:lastModifiedBy>Martin Filipov</cp:lastModifiedBy>
  <cp:revision>2</cp:revision>
  <dcterms:created xsi:type="dcterms:W3CDTF">2006-08-16T00:00:00Z</dcterms:created>
  <dcterms:modified xsi:type="dcterms:W3CDTF">2026-03-27T23:21:10Z</dcterms:modified>
</cp:coreProperties>
</file>